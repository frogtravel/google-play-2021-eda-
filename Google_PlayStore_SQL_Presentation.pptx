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0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IronHack Data Science &amp; Machine Learning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Google Play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C8FF"/>
                </a:solidFill>
                <a:latin typeface="Calibri"/>
              </a:rPr>
              <a:t>Exploratory Data Analysis &amp;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37560"/>
            <a:ext cx="59436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93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0"/>
                </a:solidFill>
                <a:latin typeface="Calibri"/>
              </a:rPr>
              <a:t>Business Challenge: EDA &amp; SQL  ·  10 Business Questions  ·  Dataset: Kaggle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9FC0"/>
                </a:solidFill>
                <a:latin typeface="Calibri"/>
              </a:rPr>
              <a:t>Ekaterina Levchenko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37160" cy="2194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234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Dataset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7090"/>
                </a:solidFill>
                <a:latin typeface="Calibri"/>
              </a:rPr>
              <a:t>Overview of the Google Play Store dataset and business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137160" cy="2194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9047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234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Data Cleaning &amp;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7090"/>
                </a:solidFill>
                <a:latin typeface="Calibri"/>
              </a:rPr>
              <a:t>Steps taken to prepare and validate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37160" cy="2194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5935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234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Business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7090"/>
                </a:solidFill>
                <a:latin typeface="Calibri"/>
              </a:rPr>
              <a:t>10 SQL-powered answers to key product &amp; market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794760"/>
            <a:ext cx="137160" cy="2194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95935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2340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663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Conclusions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66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7090"/>
                </a:solidFill>
                <a:latin typeface="Calibri"/>
              </a:rPr>
              <a:t>Key insights and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Dataset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9C"/>
                </a:solidFill>
                <a:latin typeface="Calibri"/>
              </a:rPr>
              <a:t>Google Play Store Apps — Kaggle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1097280"/>
            <a:ext cx="160020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76872" y="11155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  <a:latin typeface="Calibri"/>
              </a:rPr>
              <a:t>2.3 M  apps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097280"/>
            <a:ext cx="160020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14232" y="11155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  <a:latin typeface="Calibri"/>
              </a:rPr>
              <a:t>24  attributes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1097280"/>
            <a:ext cx="160020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14432" y="11155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  <a:latin typeface="Calibri"/>
              </a:rPr>
              <a:t>Source: Kaggle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54480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54480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591056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App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1850745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Application display 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192" y="1554480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3192" y="1554480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9496" y="1591056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App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9496" y="1850745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Unique package identifier  (e.g. com.example.app)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0351" y="1554480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0351" y="1554480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6655" y="1591056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655" y="1850745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Store category  (e.g. Games, Tools, Finance)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208276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208276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2244852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2504541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Average user rating  (1.0 – 5.0)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3192" y="2208276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3192" y="2208276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9496" y="2244852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Rating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9496" y="2504541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Total number of user ratings submitted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0351" y="2208276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0351" y="2208276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6655" y="2244852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Installs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6655" y="2504541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Install range string  (e.g. '1,000,000+')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2862072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2862072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" y="2898648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Minimum Installs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" y="3158337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Lower bound of install count  (numeric)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3192" y="2862072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3192" y="2862072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9496" y="2898648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Maximum Installs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9496" y="3158337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Actual install count  (numeric)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50351" y="2862072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50351" y="2862072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6655" y="2898648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Free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6655" y="3158337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Boolean — app is free to download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3515868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6032" y="3515868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3552444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Price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" y="3812133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Purchase price  (0.0 for free apps)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3192" y="3515868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3192" y="3515868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9496" y="3552444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Currency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9496" y="3812133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Price currency code  (e.g. USD)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50351" y="3515868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50351" y="3515868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96655" y="3552444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Size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6655" y="3812133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APK size  (e.g. '12M', 'Varies with device')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4169663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6032" y="4169663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" y="4206240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Minimum Android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" y="4465929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Minimum required Android OS version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3192" y="4169663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3192" y="4169663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49496" y="4206240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Developer 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9496" y="4465929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Developer's unique store identifier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50351" y="4169663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50351" y="4169663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5" y="4206240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Developer Website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96655" y="4465929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URL to the developer's public website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" y="4823459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56032" y="4823459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2336" y="4860036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Developer Email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2336" y="5119725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Developer's contact e-mail address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3192" y="4823459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03192" y="4823459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49496" y="4860036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Released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9496" y="5119725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Original app release date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50351" y="4823459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50351" y="4823459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5" y="4860036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Privacy Policy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96655" y="5119725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URL to the app's privacy policy page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" y="5477256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56032" y="5477256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2336" y="5513832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Last Updated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36" y="5773521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Date of the most recent app update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03192" y="5477256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03192" y="5477256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49496" y="5513832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Content Rating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49496" y="5773521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Audience age group  (Everyone / Teen / Mature 17+)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50351" y="5477256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0351" y="5477256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96655" y="5513832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Ad Supported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96655" y="5773521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Boolean — app contains advertising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6032" y="6131052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6032" y="6131052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2336" y="6167628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In App Purchases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336" y="6427317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Boolean — app offers in-app purchases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03192" y="6131052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203192" y="6131052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49496" y="6167628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Editor's Choice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49496" y="6427317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Boolean — featured as a Google Editor's Choice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50351" y="6131052"/>
            <a:ext cx="3782568" cy="6172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150351" y="6131052"/>
            <a:ext cx="91440" cy="61721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96655" y="6167628"/>
            <a:ext cx="151302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  <a:latin typeface="Calibri"/>
              </a:rPr>
              <a:t>Scraped Time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96655" y="6427317"/>
            <a:ext cx="3581400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6280"/>
                </a:solidFill>
                <a:latin typeface="Calibri"/>
              </a:rPr>
              <a:t>Timestamp of when the app record was scraped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 Cleaning &amp;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5394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53949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075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Nulls or Missing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19072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The dataset had no null or missing values — it is a very clean dataset. No rows needed to be dropped for completeness issues.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61872"/>
            <a:ext cx="5394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3949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3075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Dropped Broken System App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719072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Some system apps (e.g. Google Camera) showed Maximum Installs = 1 but an impossibly high Rating Count. These rows were dropped: data = data[data['Rating Count'] &lt; data['Maximum Installs']]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5394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3949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154679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Date Columns → 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566160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'Released', 'Last Updated' and 'Scraped Time' were converted from string to datetime so SQL could recognise them as DATE columns.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08960"/>
            <a:ext cx="5394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3949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154679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maximum_installs Used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66160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No normalisation was needed. The 'Maximum Installs' numeric column was used as-is for all SQL comparisons and aggregations.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56048"/>
            <a:ext cx="5394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56048"/>
            <a:ext cx="53949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0017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Duplicates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413248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There were no duplicate app entries in the dataset. The data is clean and each App Id appears uniquely.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956048"/>
            <a:ext cx="5394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956048"/>
            <a:ext cx="5394960" cy="38404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50017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Free / Paid — No Inconsistencies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413248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Calibri"/>
              </a:rPr>
              <a:t>The 'Free' boolean and 'Price' columns were fully consistent. No cross-check issues were found; CAST was used in SQL where arithmetic on these fields was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Q1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are the Top 10 categories by total installs?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Top 10 categories by total 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category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SUM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maximum_installs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GROUP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category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total_installs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1615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627631"/>
            <a:ext cx="4389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Tools leads by a wide margin with 119.8 B total installs, followed by Communication and Productivity. The long tail of niche categories shows how fragmented the market is beyond the top 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404872"/>
            <a:ext cx="4480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ell_24_o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514600"/>
            <a:ext cx="4480560" cy="3136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42048" y="566927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90B0"/>
                </a:solidFill>
                <a:latin typeface="Calibri"/>
              </a:rPr>
              <a:t>Python EDA · Total installs per category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860"/>
                <a:gridCol w="573786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Installs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119.8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72.3 B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Productivity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45.4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Entertainment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32.5 B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32.2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Q2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app is the best-rated per category (within the Top 10 most installed)?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6A9955"/>
                </a:solidFill>
                <a:latin typeface="Consolas"/>
              </a:rPr>
              <a:t>-- Create a view: best app per category by rating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CREATE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VIEW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best_app_per_category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SELECT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app_id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app_name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rating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</a:t>
            </a:r>
            <a:r>
              <a:rPr sz="1100">
                <a:solidFill>
                  <a:srgbClr val="DCDCAA"/>
                </a:solidFill>
                <a:latin typeface="Consolas"/>
              </a:rPr>
              <a:t>RANK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OVER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</a:t>
            </a:r>
            <a:r>
              <a:rPr sz="1100">
                <a:solidFill>
                  <a:srgbClr val="569CD6"/>
                </a:solidFill>
                <a:latin typeface="Consolas"/>
              </a:rPr>
              <a:t>PARTITION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BY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</a:t>
            </a:r>
            <a:r>
              <a:rPr sz="1100">
                <a:solidFill>
                  <a:srgbClr val="569CD6"/>
                </a:solidFill>
                <a:latin typeface="Consolas"/>
              </a:rPr>
              <a:t>ORDER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BY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rating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DESC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rating_count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AS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rnk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FROM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google_play_store</a:t>
            </a:r>
            <a:r>
              <a:rPr sz="110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6A9955"/>
                </a:solidFill>
                <a:latin typeface="Consolas"/>
              </a:rPr>
              <a:t>-- Join with Top 10 install categories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SELECT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cat_totals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</a:t>
            </a:r>
            <a:r>
              <a:rPr sz="1100">
                <a:solidFill>
                  <a:srgbClr val="9CDCFE"/>
                </a:solidFill>
                <a:latin typeface="Consolas"/>
              </a:rPr>
              <a:t>cat_totals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total_installs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</a:t>
            </a:r>
            <a:r>
              <a:rPr sz="1100">
                <a:solidFill>
                  <a:srgbClr val="9CDCFE"/>
                </a:solidFill>
                <a:latin typeface="Consolas"/>
              </a:rPr>
              <a:t>b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app_name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</a:t>
            </a:r>
            <a:r>
              <a:rPr sz="1100">
                <a:solidFill>
                  <a:srgbClr val="9CDCFE"/>
                </a:solidFill>
                <a:latin typeface="Consolas"/>
              </a:rPr>
              <a:t>b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rating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FROM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SELECT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  <a:r>
              <a:rPr sz="11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</a:t>
            </a:r>
            <a:r>
              <a:rPr sz="1100">
                <a:solidFill>
                  <a:srgbClr val="DCDCAA"/>
                </a:solidFill>
                <a:latin typeface="Consolas"/>
              </a:rPr>
              <a:t>SUM</a:t>
            </a:r>
            <a:r>
              <a:rPr sz="1100">
                <a:solidFill>
                  <a:srgbClr val="D4D4D4"/>
                </a:solidFill>
                <a:latin typeface="Consolas"/>
              </a:rPr>
              <a:t>(</a:t>
            </a:r>
            <a:r>
              <a:rPr sz="1100">
                <a:solidFill>
                  <a:srgbClr val="9CDCFE"/>
                </a:solidFill>
                <a:latin typeface="Consolas"/>
              </a:rPr>
              <a:t>maximum_installs</a:t>
            </a: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AS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total_installs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FROM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GROUP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BY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ORDER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BY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total_installs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LIMIT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B5CEA8"/>
                </a:solidFill>
                <a:latin typeface="Consolas"/>
              </a:rPr>
              <a:t>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)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AS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cat_totals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JOIN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best_app_per_category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AS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</a:t>
            </a:r>
            <a:r>
              <a:rPr sz="1100">
                <a:solidFill>
                  <a:srgbClr val="569CD6"/>
                </a:solidFill>
                <a:latin typeface="Consolas"/>
              </a:rPr>
              <a:t>ON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cat_totals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category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AND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b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rnk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=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ORDER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BY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9CDCFE"/>
                </a:solidFill>
                <a:latin typeface="Consolas"/>
              </a:rPr>
              <a:t>cat_totals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9CDCFE"/>
                </a:solidFill>
                <a:latin typeface="Consolas"/>
              </a:rPr>
              <a:t>total_installs</a:t>
            </a:r>
            <a:r>
              <a:rPr sz="1100">
                <a:solidFill>
                  <a:srgbClr val="9CDCFE"/>
                </a:solidFill>
                <a:latin typeface="Consolas"/>
              </a:rPr>
              <a:t> </a:t>
            </a:r>
            <a:r>
              <a:rPr sz="1100">
                <a:solidFill>
                  <a:srgbClr val="569CD6"/>
                </a:solidFill>
                <a:latin typeface="Consolas"/>
              </a:rPr>
              <a:t>DESC</a:t>
            </a:r>
            <a:r>
              <a:rPr sz="11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RANK() OVER (PARTITION BY category) finds the best-rated app inside each category. The result is then joined with the Top 10 categories by installs to see which app tops each major segment.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30"/>
                <a:gridCol w="2868930"/>
                <a:gridCol w="2868930"/>
                <a:gridCol w="286893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Installs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App Name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119.8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QR code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72.3 B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Cooperations office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Productivity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45.4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Calculator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Entertainment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32.5 B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Maps Master for Minecraft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32.2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DJJS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Q3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categories have the highest proportion of paid apps?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Proportion of paid vs free apps by category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category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SUM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569CD6"/>
                </a:solidFill>
                <a:latin typeface="Consolas"/>
              </a:rPr>
              <a:t>CASE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WHEN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free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&lt;</a:t>
            </a:r>
            <a:r>
              <a:rPr sz="1200">
                <a:solidFill>
                  <a:srgbClr val="D4D4D4"/>
                </a:solidFill>
                <a:latin typeface="Consolas"/>
              </a:rPr>
              <a:t>&gt;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CE9178"/>
                </a:solidFill>
                <a:latin typeface="Consolas"/>
              </a:rPr>
              <a:t>'True'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  </a:t>
            </a:r>
            <a:r>
              <a:rPr sz="1200">
                <a:solidFill>
                  <a:srgbClr val="569CD6"/>
                </a:solidFill>
                <a:latin typeface="Consolas"/>
              </a:rPr>
              <a:t>THEN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ELSE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END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paid_amount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GROUP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category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CAST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paid_amount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FLOAT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4D4D4"/>
                </a:solidFill>
                <a:latin typeface="Consolas"/>
              </a:rPr>
              <a:t>/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total_amount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1615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627631"/>
            <a:ext cx="4389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Role Playing leads with ~7% paid apps. Most categories stay well below 5%, confirming free is the dominant business model. Niche/premium categories are the exception.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404872"/>
            <a:ext cx="4480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ell_17_o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514600"/>
            <a:ext cx="4480560" cy="3136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42048" y="566927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90B0"/>
                </a:solidFill>
                <a:latin typeface="Calibri"/>
              </a:rPr>
              <a:t>Python EDA · Paid-to-Free ratio per category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0"/>
                <a:gridCol w="3825240"/>
                <a:gridCol w="382524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Paid Amount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Amount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Role Playing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9631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553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8221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Personalization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88,777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Educational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1070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20,996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22,733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Q4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developers have published the most apps on the Play Store?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Top 10 developers by number of published 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developer_id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GROUP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developer_id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total_apps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Grouping by developer_id and counting rows uncovers prolific publishers. High app counts may signal content farms or SDK testing accounts — a useful quality filter for any recommendation system.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860"/>
                <a:gridCol w="573786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Developer Id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Apps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Subsplash 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TRAINERIZE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4923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ChowNow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4808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OrderYOYO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2831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Phorest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Q5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developers have the most total installs across all their apps?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Top 10 developers by total 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developer_id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SUM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installs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GROUP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developer_id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total_installs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The top developers by total installs are largely the same names as in Q4. The order shifts slightly — a few highly viral apps can push a developer up the ranking — but the dominant publishers remain the same in both queries.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860"/>
                <a:gridCol w="573786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Developer Id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Installs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Subsplash 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625,253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ChowNow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335,424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OrderYOYO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290,641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Branded Apps by MINDBODY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210,893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Phorest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173,053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Q6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apps are underrated — high review engagement but low installs?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Underrated apps: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high review ratio relative to 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app_name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rating_count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maximum_installs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CAST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rating_count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FLOAT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4D4D4"/>
                </a:solidFill>
                <a:latin typeface="Consolas"/>
              </a:rPr>
              <a:t>/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maximum_installs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Ordering by the ratio of rating_count to maximum_installs surfaces apps where almost every installer also left a review. A ratio close to 100% is suspicious — reviews may have been written by friends or purchased on third-party sites rather than earned organically.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0"/>
                <a:gridCol w="3825240"/>
                <a:gridCol w="382524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App Name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Rating Count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Maximum Installs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Hi Speed Radar,Camera, Blitzi, Traffic,…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All in one Status Saver: Save HD Images…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Choper Slice - Master Chef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LigaLigura: The Ultimate Precious Metal…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146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McPAID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0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Calibri"/>
              </a:rPr>
              <a:t>SQL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Common Table Expression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WITH clause  ·  CTE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95728"/>
            <a:ext cx="54864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0DA"/>
                </a:solidFill>
                <a:latin typeface="Calibri"/>
              </a:rPr>
              <a:t>A CTE is a temporary, named result set defined at the start of a query using the WITH keyword. It makes complex queries easier to read by breaking them into named steps, and can be referenced multiple times in the same query.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685800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64922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Define a CTE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WITH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top_apps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app_name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rating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rating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Use it like a regular table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top_apps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FC0"/>
                </a:solidFill>
                <a:latin typeface="Calibri"/>
              </a:rPr>
              <a:t>Used in  Q7  ·  Q8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Q7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apps are overhyped — massive installs but low ratings?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Step 1: avg installs of top 5% of 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WITH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</a:t>
            </a:r>
            <a:r>
              <a:rPr sz="1200">
                <a:solidFill>
                  <a:srgbClr val="DCDCAA"/>
                </a:solidFill>
                <a:latin typeface="Consolas"/>
              </a:rPr>
              <a:t>CAST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0.05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INTEGER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 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top_n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AVG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maximum_installs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avg_installs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maximum_installs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top_n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Result: ~324,704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Step 2: overhyped 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WHERE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maximum_installs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&gt;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324704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AND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rating_count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&gt;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rating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A CTE first computes the average installs for the top 5% of apps (~324K). Apps above this threshold with at least one review are then sorted by rating ascending. These apps have viral reach but fail to satisfy users.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30"/>
                <a:gridCol w="2868930"/>
                <a:gridCol w="2868930"/>
                <a:gridCol w="286893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App Name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Maximum Installs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Offroad car driving:4x4 off-road rally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Racing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331,076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TV9 Telugu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News &amp; Magazines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2.2 M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Thingiverse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659,787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Android TV Home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60.7 M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Destiny  Teller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Entertainment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Q8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percentage of apps have fewer than 100 reviews?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% of apps with fewer than 100 reviews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WITH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stat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few_reviews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569CD6"/>
                </a:solidFill>
                <a:latin typeface="Consolas"/>
              </a:rPr>
              <a:t>WHERE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rating_count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&lt;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few_reviews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total_count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ROUND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CDCAA"/>
                </a:solidFill>
                <a:latin typeface="Consolas"/>
              </a:rPr>
              <a:t>CAST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9CDCFE"/>
                </a:solidFill>
                <a:latin typeface="Consolas"/>
              </a:rPr>
              <a:t>few_reviews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FLOAT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 </a:t>
            </a:r>
            <a:r>
              <a:rPr sz="1200">
                <a:solidFill>
                  <a:srgbClr val="D4D4D4"/>
                </a:solidFill>
                <a:latin typeface="Consolas"/>
              </a:rPr>
              <a:t>/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    </a:t>
            </a: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  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100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percentage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stat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Only 17.5% of apps have more than 100 reviews, meaning the vast majority of apps go unnoticed. Discoverability is a major challenge on the Play Store.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0"/>
                <a:gridCol w="3825240"/>
                <a:gridCol w="3825240"/>
              </a:tblGrid>
              <a:tr h="443483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Few Reviews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Count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2.3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82.40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Q9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are the most common price points for paid apps? Is there a 'sweet spot'?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4709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Most common price points for paid apps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price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app_count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WHERE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price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4D4D4"/>
                </a:solidFill>
                <a:latin typeface="Consolas"/>
              </a:rPr>
              <a:t>&gt;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GROUP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LIMIT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B5CEA8"/>
                </a:solidFill>
                <a:latin typeface="Consolas"/>
              </a:rPr>
              <a:t>10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21615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627631"/>
            <a:ext cx="4389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Calibri"/>
              </a:rPr>
              <a:t>$0.99 is the clear mode. The KDE shows a massive spike below $2, then a long tail. The answer is yes — the sweet spot is $0.99, with $1.99 and $2.99 as secondary peaks.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404872"/>
            <a:ext cx="448056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ell_69_o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514600"/>
            <a:ext cx="4480560" cy="3136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42048" y="566927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90B0"/>
                </a:solidFill>
                <a:latin typeface="Calibri"/>
              </a:rPr>
              <a:t>Python EDA · Price distribution for paid apps (price &lt; $50)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861304"/>
          <a:ext cx="11475720" cy="88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860"/>
                <a:gridCol w="5737860"/>
              </a:tblGrid>
              <a:tr h="14782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App Count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11,455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1.99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5687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7827"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3683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147832"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4.99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Calibri"/>
              </a:rPr>
              <a:t>Q10  · 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Which content rating (Everyone, Teen, Mature 17+) dominates by number of apps?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649224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612647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6A9955"/>
                </a:solidFill>
                <a:latin typeface="Consolas"/>
              </a:rPr>
              <a:t>-- Content rating distribution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9CDCFE"/>
                </a:solidFill>
                <a:latin typeface="Consolas"/>
              </a:rPr>
              <a:t>content_rating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CDCFE"/>
                </a:solidFill>
                <a:latin typeface="Consolas"/>
              </a:rPr>
              <a:t> 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AS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app_count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FROM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google_play_store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GROUP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9CDCFE"/>
                </a:solidFill>
                <a:latin typeface="Consolas"/>
              </a:rPr>
              <a:t>content_rating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ORDER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BY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COUNT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D4D4D4"/>
                </a:solidFill>
                <a:latin typeface="Consolas"/>
              </a:rPr>
              <a:t>*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  <a:r>
              <a:rPr sz="1200">
                <a:solidFill>
                  <a:srgbClr val="9CDCFE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DESC</a:t>
            </a:r>
            <a:r>
              <a:rPr sz="12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163824"/>
          <a:ext cx="6492240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374904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Content Rating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App Count</a:t>
                      </a:r>
                    </a:p>
                  </a:txBody>
                  <a:tcPr>
                    <a:solidFill>
                      <a:srgbClr val="0F234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2.0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Teen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192,750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Mature 17+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59,608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Everyone 10+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33,085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Unrated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Adults only 18+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A2E4A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14032" y="1078992"/>
            <a:ext cx="4727448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078992"/>
            <a:ext cx="118872" cy="4709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261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Query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810512"/>
            <a:ext cx="4389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A"/>
                </a:solidFill>
                <a:latin typeface="Calibri"/>
              </a:rPr>
              <a:t>'Everyone' has ~2M apps — dwarfing all others. Teen is second with ~180K. This confirms the Play Store is overwhelmingly family-friendly by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005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114800"/>
            <a:ext cx="3200400" cy="3200400"/>
          </a:xfrm>
          <a:prstGeom prst="ellipse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Key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54864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45336"/>
            <a:ext cx="182880" cy="1828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3898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Tools, Communication &amp; Productivity dominate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739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0DA"/>
                </a:solidFill>
                <a:latin typeface="Calibri"/>
              </a:rPr>
              <a:t>These three categories account for the largest share of total installs on the Play Store — with Tools alone exceeding 119 billion installs.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32888"/>
            <a:ext cx="182880" cy="1828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Most apps have very little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7614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0DA"/>
                </a:solidFill>
                <a:latin typeface="Calibri"/>
              </a:rPr>
              <a:t>A large percentage of apps have fewer than 100 reviews, showing that discoverability is a major challenge.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20440"/>
            <a:ext cx="182880" cy="1828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649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Paid apps cluster at psychological price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7490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0DA"/>
                </a:solidFill>
                <a:latin typeface="Calibri"/>
              </a:rPr>
              <a:t>$0.99, $1.99 and $2.99 dominate, confirming that low prices reduce friction for paid downloads.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07992"/>
            <a:ext cx="182880" cy="1828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3525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Prolific developers = Most-installed developers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73659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0DA"/>
                </a:solidFill>
                <a:latin typeface="Calibri"/>
              </a:rPr>
              <a:t>Q4 and Q5 surface almost identical top names — high app output and high install reach go hand in hand. However, Python EDA shows that past a certain threshold, publishing more apps correlates negatively with average rating: volume hurts quality.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95544"/>
            <a:ext cx="182880" cy="1828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3400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'Everyone' content rating dominates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72414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0DA"/>
                </a:solidFill>
                <a:latin typeface="Calibri"/>
              </a:rPr>
              <a:t>Over 80% of apps target all age groups, reflecting broad audience strategies over niche targeting.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